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  <a:latin typeface="Malgun Gothic"/>
              </a:defRPr>
            </a:pPr>
            <a:r>
              <a:t>지구촌교회 청소년지구 중등부</a:t>
            </a:r>
          </a:p>
          <a:p>
            <a:pPr algn="ctr">
              <a:spcBef>
                <a:spcPts val="1400"/>
              </a:spcBef>
              <a:defRPr sz="5600" b="1">
                <a:solidFill>
                  <a:srgbClr val="FFFFFF"/>
                </a:solidFill>
                <a:latin typeface="Malgun Gothic"/>
              </a:defRPr>
            </a:pPr>
            <a:r>
              <a:t>O / X  퀴 즈  대 회</a:t>
            </a:r>
          </a:p>
          <a:p>
            <a:pPr algn="ctr">
              <a:spcBef>
                <a:spcPts val="2400"/>
              </a:spcBef>
              <a:defRPr sz="2000">
                <a:solidFill>
                  <a:srgbClr val="CBD5E1"/>
                </a:solidFill>
                <a:latin typeface="Malgun Gothic"/>
              </a:defRPr>
            </a:pPr>
            <a:r>
              <a:t>수련회 &amp; 진행용 맞춤 퀴즈 PPT  |  총 45문항 (본 퀴즈 35문항 + 여분 10문항)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  <a:latin typeface="Malgun Gothic"/>
              </a:defRPr>
            </a:pPr>
            <a:r>
              <a:t>PART 1</a:t>
            </a:r>
          </a:p>
          <a:p>
            <a:pPr algn="ctr">
              <a:spcBef>
                <a:spcPts val="1000"/>
              </a:spcBef>
              <a:defRPr sz="4800" b="1">
                <a:solidFill>
                  <a:srgbClr val="FFFFFF"/>
                </a:solidFill>
                <a:latin typeface="Malgun Gothic"/>
              </a:defRPr>
            </a:pPr>
            <a:r>
              <a:t>본 퀴즈 (1번 ~ 35번)</a:t>
            </a:r>
          </a:p>
          <a:p>
            <a:pPr algn="ctr">
              <a:spcBef>
                <a:spcPts val="1600"/>
              </a:spcBef>
              <a:defRPr sz="2000">
                <a:solidFill>
                  <a:srgbClr val="CBD5E1"/>
                </a:solidFill>
                <a:latin typeface="Malgun Gothic"/>
              </a:defRPr>
            </a:pPr>
            <a:r>
              <a:t>준비되셨나요? 문제에 집중하고 O / X 판을 올려주세요!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01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성경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1645920" cy="493776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난이도: 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99971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293B"/>
                </a:solidFill>
                <a:latin typeface="Malgun Gothic"/>
              </a:defRPr>
            </a:pPr>
            <a:r>
              <a:t>모세가 홍해를 가를 때 사용한 무기는 활과 화살이었다.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4937760"/>
            <a:ext cx="3657600" cy="13716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2415" y="4937760"/>
            <a:ext cx="3657600" cy="13716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01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성경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2011680" cy="4937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정답 및 해설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1072865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64748B"/>
                </a:solidFill>
                <a:latin typeface="Malgun Gothic"/>
              </a:defRPr>
            </a:pPr>
            <a:r>
              <a:t>Q. 모세가 홍해를 가를 때 사용한 무기는 활과 화살이었다.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74720" cy="41148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정 답</a:t>
            </a:r>
          </a:p>
          <a:p>
            <a:pPr algn="ctr">
              <a:defRPr sz="120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286000"/>
            <a:ext cx="697961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643097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1B365D"/>
                </a:solidFill>
                <a:latin typeface="Malgun Gothic"/>
              </a:defRPr>
            </a:pPr>
            <a:r>
              <a:t>💡 해설 및 참고</a:t>
            </a:r>
          </a:p>
          <a:p>
            <a:pPr>
              <a:defRPr sz="3000" b="1">
                <a:solidFill>
                  <a:srgbClr val="1E293B"/>
                </a:solidFill>
                <a:latin typeface="Malgun Gothic"/>
              </a:defRPr>
            </a:pPr>
            <a:r>
              <a:t>하나님의 명령으로 바다 위로 지팡이를 든 손을 내밀어 홍해를 가랐습니다.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02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역사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1645920" cy="493776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난이도: 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99971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293B"/>
                </a:solidFill>
                <a:latin typeface="Malgun Gothic"/>
              </a:defRPr>
            </a:pPr>
            <a:r>
              <a:t>한글을 창제하여 반포한 조선의 왕은 세종대왕이다.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4937760"/>
            <a:ext cx="3657600" cy="13716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2415" y="4937760"/>
            <a:ext cx="3657600" cy="13716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02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역사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2011680" cy="4937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정답 및 해설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1072865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64748B"/>
                </a:solidFill>
                <a:latin typeface="Malgun Gothic"/>
              </a:defRPr>
            </a:pPr>
            <a:r>
              <a:t>Q. 한글을 창제하여 반포한 조선의 왕은 세종대왕이다.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74720" cy="41148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정 답</a:t>
            </a:r>
          </a:p>
          <a:p>
            <a:pPr algn="ctr">
              <a:defRPr sz="120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286000"/>
            <a:ext cx="697961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643097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1B365D"/>
                </a:solidFill>
                <a:latin typeface="Malgun Gothic"/>
              </a:defRPr>
            </a:pPr>
            <a:r>
              <a:t>💡 해설 및 참고</a:t>
            </a:r>
          </a:p>
          <a:p>
            <a:pPr>
              <a:defRPr sz="3000" b="1">
                <a:solidFill>
                  <a:srgbClr val="1E293B"/>
                </a:solidFill>
                <a:latin typeface="Malgun Gothic"/>
              </a:defRPr>
            </a:pPr>
            <a:r>
              <a:t>1443년에 훈민정음을 창제하고 1446년 에 반포하였습니다.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03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연예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1645920" cy="493776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난이도: 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99971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293B"/>
                </a:solidFill>
                <a:latin typeface="Malgun Gothic"/>
              </a:defRPr>
            </a:pPr>
            <a:r>
              <a:t>에스파(aespa)의 멤버 카리나는 리더를 맡고 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4937760"/>
            <a:ext cx="3657600" cy="13716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2415" y="4937760"/>
            <a:ext cx="3657600" cy="13716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03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연예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2011680" cy="4937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정답 및 해설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1072865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64748B"/>
                </a:solidFill>
                <a:latin typeface="Malgun Gothic"/>
              </a:defRPr>
            </a:pPr>
            <a:r>
              <a:t>Q. 에스파(aespa)의 멤버 카리나는 리더를 맡고 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74720" cy="41148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정 답</a:t>
            </a:r>
          </a:p>
          <a:p>
            <a:pPr algn="ctr">
              <a:defRPr sz="120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286000"/>
            <a:ext cx="697961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643097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1B365D"/>
                </a:solidFill>
                <a:latin typeface="Malgun Gothic"/>
              </a:defRPr>
            </a:pPr>
            <a:r>
              <a:t>💡 해설 및 참고</a:t>
            </a:r>
          </a:p>
          <a:p>
            <a:pPr>
              <a:defRPr sz="3000" b="1">
                <a:solidFill>
                  <a:srgbClr val="1E293B"/>
                </a:solidFill>
                <a:latin typeface="Malgun Gothic"/>
              </a:defRPr>
            </a:pPr>
            <a:r>
              <a:t>카리나는 에스파의 리더입니다.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04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성경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1645920" cy="493776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난이도: 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99971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293B"/>
                </a:solidFill>
                <a:latin typeface="Malgun Gothic"/>
              </a:defRPr>
            </a:pPr>
            <a:r>
              <a:t>예수님이 승천하시기 전 제자들에게 성령이 임할 것을 약속하셨 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4937760"/>
            <a:ext cx="3657600" cy="13716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2415" y="4937760"/>
            <a:ext cx="3657600" cy="13716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04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성경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2011680" cy="4937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정답 및 해설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1072865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64748B"/>
                </a:solidFill>
                <a:latin typeface="Malgun Gothic"/>
              </a:defRPr>
            </a:pPr>
            <a:r>
              <a:t>Q. 예수님이 승천하시기 전 제자들에게 성령이 임할 것을 약속하셨 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74720" cy="41148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정 답</a:t>
            </a:r>
          </a:p>
          <a:p>
            <a:pPr algn="ctr">
              <a:defRPr sz="120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286000"/>
            <a:ext cx="697961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643097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1B365D"/>
                </a:solidFill>
                <a:latin typeface="Malgun Gothic"/>
              </a:defRPr>
            </a:pPr>
            <a:r>
              <a:t>💡 해설 및 참고</a:t>
            </a:r>
          </a:p>
          <a:p>
            <a:pPr>
              <a:defRPr sz="3000" b="1">
                <a:solidFill>
                  <a:srgbClr val="1E293B"/>
                </a:solidFill>
                <a:latin typeface="Malgun Gothic"/>
              </a:defRPr>
            </a:pPr>
            <a:r>
              <a:t>"오직 성령이 너희에게 임하시면..." (행 1:8)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05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스포츠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1645920" cy="493776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난이도: 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99971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293B"/>
                </a:solidFill>
                <a:latin typeface="Malgun Gothic"/>
              </a:defRPr>
            </a:pPr>
            <a:r>
              <a:t>축구는 한 팀당 15명이 필드에서 뛰는 경기이다.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4937760"/>
            <a:ext cx="3657600" cy="13716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2415" y="4937760"/>
            <a:ext cx="3657600" cy="13716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05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스포츠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2011680" cy="4937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정답 및 해설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1072865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64748B"/>
                </a:solidFill>
                <a:latin typeface="Malgun Gothic"/>
              </a:defRPr>
            </a:pPr>
            <a:r>
              <a:t>Q. 축구는 한 팀당 15명이 필드에서 뛰는 경기이다.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74720" cy="41148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정 답</a:t>
            </a:r>
          </a:p>
          <a:p>
            <a:pPr algn="ctr">
              <a:defRPr sz="120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286000"/>
            <a:ext cx="697961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643097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1B365D"/>
                </a:solidFill>
                <a:latin typeface="Malgun Gothic"/>
              </a:defRPr>
            </a:pPr>
            <a:r>
              <a:t>💡 해설 및 참고</a:t>
            </a:r>
          </a:p>
          <a:p>
            <a:pPr>
              <a:defRPr sz="3000" b="1">
                <a:solidFill>
                  <a:srgbClr val="1E293B"/>
                </a:solidFill>
                <a:latin typeface="Malgun Gothic"/>
              </a:defRPr>
            </a:pPr>
            <a:r>
              <a:t>축구는 골키퍼 1명을 포함하여 한 팀당 11명이 뜁니다.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06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성경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1645920" cy="493776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난이도: 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99971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293B"/>
                </a:solidFill>
                <a:latin typeface="Malgun Gothic"/>
              </a:defRPr>
            </a:pPr>
            <a:r>
              <a:t>바울과 실라가 감옥에서 찬송하고 기도할 때 지진이 났다.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4937760"/>
            <a:ext cx="3657600" cy="13716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2415" y="4937760"/>
            <a:ext cx="3657600" cy="13716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06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성경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2011680" cy="4937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정답 및 해설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1072865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64748B"/>
                </a:solidFill>
                <a:latin typeface="Malgun Gothic"/>
              </a:defRPr>
            </a:pPr>
            <a:r>
              <a:t>Q. 바울과 실라가 감옥에서 찬송하고 기도할 때 지진이 났다.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74720" cy="41148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정 답</a:t>
            </a:r>
          </a:p>
          <a:p>
            <a:pPr algn="ctr">
              <a:defRPr sz="120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286000"/>
            <a:ext cx="697961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643097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1B365D"/>
                </a:solidFill>
                <a:latin typeface="Malgun Gothic"/>
              </a:defRPr>
            </a:pPr>
            <a:r>
              <a:t>💡 해설 및 참고</a:t>
            </a:r>
          </a:p>
          <a:p>
            <a:pPr>
              <a:defRPr sz="2600" b="1">
                <a:solidFill>
                  <a:srgbClr val="1E293B"/>
                </a:solidFill>
                <a:latin typeface="Malgun Gothic"/>
              </a:defRPr>
            </a:pPr>
            <a:r>
              <a:t>옥터가 움직이고 문이 열리며 모든 매인 것이 벗어지는 기적이 일어났습니다.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07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연예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1645920" cy="493776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난이도: 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99971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293B"/>
                </a:solidFill>
                <a:latin typeface="Malgun Gothic"/>
              </a:defRPr>
            </a:pPr>
            <a:r>
              <a:t>블랙핑크(BLACKPINK)의 제니는 솔로곡 'SOLO'를 발매한 적이 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4937760"/>
            <a:ext cx="3657600" cy="13716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2415" y="4937760"/>
            <a:ext cx="3657600" cy="13716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07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연예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2011680" cy="4937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정답 및 해설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1072865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64748B"/>
                </a:solidFill>
                <a:latin typeface="Malgun Gothic"/>
              </a:defRPr>
            </a:pPr>
            <a:r>
              <a:t>Q. 블랙핑크(BLACKPINK)의 제니는 솔로곡 'SOLO'를 발매한 적이 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74720" cy="41148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정 답</a:t>
            </a:r>
          </a:p>
          <a:p>
            <a:pPr algn="ctr">
              <a:defRPr sz="120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286000"/>
            <a:ext cx="697961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643097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1B365D"/>
                </a:solidFill>
                <a:latin typeface="Malgun Gothic"/>
              </a:defRPr>
            </a:pPr>
            <a:r>
              <a:t>💡 해설 및 참고</a:t>
            </a:r>
          </a:p>
          <a:p>
            <a:pPr>
              <a:defRPr sz="3000" b="1">
                <a:solidFill>
                  <a:srgbClr val="1E293B"/>
                </a:solidFill>
                <a:latin typeface="Malgun Gothic"/>
              </a:defRPr>
            </a:pPr>
            <a:r>
              <a:t>2018년에 발매된 제니의 솔로 데뷔곡입 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08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지구촌교회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1645920" cy="493776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난이도: 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99971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293B"/>
                </a:solidFill>
                <a:latin typeface="Malgun Gothic"/>
              </a:defRPr>
            </a:pPr>
            <a:r>
              <a:t>지구촌교회는 수지채플과 분당채플 등 여러 지역에 멀티채플을 두 고 함께 예배를 드린다.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4937760"/>
            <a:ext cx="3657600" cy="13716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2415" y="4937760"/>
            <a:ext cx="3657600" cy="13716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08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지구촌교회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2011680" cy="4937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정답 및 해설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1072865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64748B"/>
                </a:solidFill>
                <a:latin typeface="Malgun Gothic"/>
              </a:defRPr>
            </a:pPr>
            <a:r>
              <a:t>Q. 지구촌교회는 수지채플과 분당채플 등 여러 지역에 멀티채플을 두 고 함께 예배를 드린다.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74720" cy="41148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정 답</a:t>
            </a:r>
          </a:p>
          <a:p>
            <a:pPr algn="ctr">
              <a:defRPr sz="120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286000"/>
            <a:ext cx="697961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643097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1B365D"/>
                </a:solidFill>
                <a:latin typeface="Malgun Gothic"/>
              </a:defRPr>
            </a:pPr>
            <a:r>
              <a:t>💡 해설 및 참고</a:t>
            </a:r>
          </a:p>
          <a:p>
            <a:pPr>
              <a:defRPr sz="2600" b="1">
                <a:solidFill>
                  <a:srgbClr val="1E293B"/>
                </a:solidFill>
                <a:latin typeface="Malgun Gothic"/>
              </a:defRPr>
            </a:pPr>
            <a:r>
              <a:t>지구촌교회는 경기 남부 지역인 수지채 플과 분당채플을 중심으로 멀티채플 시 스템을 운용합니다.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09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성경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1645920" cy="493776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난이도: 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99971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293B"/>
                </a:solidFill>
                <a:latin typeface="Malgun Gothic"/>
              </a:defRPr>
            </a:pPr>
            <a:r>
              <a:t>최초의 사람은 노아이다.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4937760"/>
            <a:ext cx="3657600" cy="13716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2415" y="4937760"/>
            <a:ext cx="3657600" cy="13716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09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성경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2011680" cy="4937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정답 및 해설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1072865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64748B"/>
                </a:solidFill>
                <a:latin typeface="Malgun Gothic"/>
              </a:defRPr>
            </a:pPr>
            <a:r>
              <a:t>Q. 최초의 사람은 노아이다.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74720" cy="41148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정 답</a:t>
            </a:r>
          </a:p>
          <a:p>
            <a:pPr algn="ctr">
              <a:defRPr sz="120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286000"/>
            <a:ext cx="697961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643097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1B365D"/>
                </a:solidFill>
                <a:latin typeface="Malgun Gothic"/>
              </a:defRPr>
            </a:pPr>
            <a:r>
              <a:t>💡 해설 및 참고</a:t>
            </a:r>
          </a:p>
          <a:p>
            <a:pPr>
              <a:defRPr sz="3000" b="1">
                <a:solidFill>
                  <a:srgbClr val="1E293B"/>
                </a:solidFill>
                <a:latin typeface="Malgun Gothic"/>
              </a:defRPr>
            </a:pPr>
            <a:r>
              <a:t>하나님이 흙으로 지으신 최초의 사람은 아담입니다.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10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과학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1645920" cy="493776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난이도: 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99971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293B"/>
                </a:solidFill>
                <a:latin typeface="Malgun Gothic"/>
              </a:defRPr>
            </a:pPr>
            <a:r>
              <a:t>우리 몸에서 혈액을 온몸으로 순환시키는 펌프 역할을 하는 기관 은 심장이다.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4937760"/>
            <a:ext cx="3657600" cy="13716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2415" y="4937760"/>
            <a:ext cx="3657600" cy="13716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10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과학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2011680" cy="4937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정답 및 해설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1072865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64748B"/>
                </a:solidFill>
                <a:latin typeface="Malgun Gothic"/>
              </a:defRPr>
            </a:pPr>
            <a:r>
              <a:t>Q. 우리 몸에서 혈액을 온몸으로 순환시키는 펌프 역할을 하는 기관 은 심장이다.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74720" cy="41148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정 답</a:t>
            </a:r>
          </a:p>
          <a:p>
            <a:pPr algn="ctr">
              <a:defRPr sz="120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286000"/>
            <a:ext cx="697961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643097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1B365D"/>
                </a:solidFill>
                <a:latin typeface="Malgun Gothic"/>
              </a:defRPr>
            </a:pPr>
            <a:r>
              <a:t>💡 해설 및 참고</a:t>
            </a:r>
          </a:p>
          <a:p>
            <a:pPr>
              <a:defRPr sz="3000" b="1">
                <a:solidFill>
                  <a:srgbClr val="1E293B"/>
                </a:solidFill>
                <a:latin typeface="Malgun Gothic"/>
              </a:defRPr>
            </a:pPr>
            <a:r>
              <a:t>심장의 수축과 이완 작용으로 혈액이 온 몸을 순환합니다.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11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성경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1645920" cy="493776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난이도: 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99971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293B"/>
                </a:solidFill>
                <a:latin typeface="Malgun Gothic"/>
              </a:defRPr>
            </a:pPr>
            <a:r>
              <a:t>예수님의 육신의 아버지 요셉의 직업은 어부였다.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4937760"/>
            <a:ext cx="3657600" cy="13716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2415" y="4937760"/>
            <a:ext cx="3657600" cy="13716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11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성경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2011680" cy="4937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정답 및 해설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1072865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64748B"/>
                </a:solidFill>
                <a:latin typeface="Malgun Gothic"/>
              </a:defRPr>
            </a:pPr>
            <a:r>
              <a:t>Q. 예수님의 육신의 아버지 요셉의 직업은 어부였다.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74720" cy="41148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정 답</a:t>
            </a:r>
          </a:p>
          <a:p>
            <a:pPr algn="ctr">
              <a:defRPr sz="120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286000"/>
            <a:ext cx="697961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643097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1B365D"/>
                </a:solidFill>
                <a:latin typeface="Malgun Gothic"/>
              </a:defRPr>
            </a:pPr>
            <a:r>
              <a:t>💡 해설 및 참고</a:t>
            </a:r>
          </a:p>
          <a:p>
            <a:pPr>
              <a:defRPr sz="3000" b="1">
                <a:solidFill>
                  <a:srgbClr val="1E293B"/>
                </a:solidFill>
                <a:latin typeface="Malgun Gothic"/>
              </a:defRPr>
            </a:pPr>
            <a:r>
              <a:t>요셉의 직업은 목수였습니다.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12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사회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1645920" cy="493776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난이도: 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#39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99971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293B"/>
                </a:solidFill>
                <a:latin typeface="Malgun Gothic"/>
              </a:defRPr>
            </a:pPr>
            <a:r>
              <a:t>독도는 대한민국 영토의 가장 동쪽에 위치한 섬이다.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4937760"/>
            <a:ext cx="3657600" cy="13716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2415" y="4937760"/>
            <a:ext cx="3657600" cy="13716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12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사회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2011680" cy="4937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정답 및 해설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#39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1072865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64748B"/>
                </a:solidFill>
                <a:latin typeface="Malgun Gothic"/>
              </a:defRPr>
            </a:pPr>
            <a:r>
              <a:t>Q. 독도는 대한민국 영토의 가장 동쪽에 위치한 섬이다.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74720" cy="41148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정 답</a:t>
            </a:r>
          </a:p>
          <a:p>
            <a:pPr algn="ctr">
              <a:defRPr sz="120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286000"/>
            <a:ext cx="697961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643097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1B365D"/>
                </a:solidFill>
                <a:latin typeface="Malgun Gothic"/>
              </a:defRPr>
            </a:pPr>
            <a:r>
              <a:t>💡 해설 및 참고</a:t>
            </a:r>
          </a:p>
          <a:p>
            <a:pPr>
              <a:defRPr sz="3000" b="1">
                <a:solidFill>
                  <a:srgbClr val="1E293B"/>
                </a:solidFill>
                <a:latin typeface="Malgun Gothic"/>
              </a:defRPr>
            </a:pPr>
            <a:r>
              <a:t>독도는 대한민국 극동에 위치한 고유 영 토입니다.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13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성경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1645920" cy="493776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난이도: 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99971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293B"/>
                </a:solidFill>
                <a:latin typeface="Malgun Gothic"/>
              </a:defRPr>
            </a:pPr>
            <a:r>
              <a:t>예수님은 제자들에게 예루살렘을 떠나지 말고 아버지께서 약속하 신 것을 기다리라고 하셨다.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4937760"/>
            <a:ext cx="3657600" cy="13716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2415" y="4937760"/>
            <a:ext cx="3657600" cy="13716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13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성경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2011680" cy="4937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정답 및 해설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1072865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64748B"/>
                </a:solidFill>
                <a:latin typeface="Malgun Gothic"/>
              </a:defRPr>
            </a:pPr>
            <a:r>
              <a:t>Q. 예수님은 제자들에게 예루살렘을 떠나지 말고 아버지께서 약속하 신 것을 기다리라고 하셨다.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74720" cy="41148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정 답</a:t>
            </a:r>
          </a:p>
          <a:p>
            <a:pPr algn="ctr">
              <a:defRPr sz="120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286000"/>
            <a:ext cx="697961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643097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1B365D"/>
                </a:solidFill>
                <a:latin typeface="Malgun Gothic"/>
              </a:defRPr>
            </a:pPr>
            <a:r>
              <a:t>💡 해설 및 참고</a:t>
            </a:r>
          </a:p>
          <a:p>
            <a:pPr>
              <a:defRPr sz="3000" b="1">
                <a:solidFill>
                  <a:srgbClr val="1E293B"/>
                </a:solidFill>
                <a:latin typeface="Malgun Gothic"/>
              </a:defRPr>
            </a:pPr>
            <a:r>
              <a:t>성령 침례를 받기 위해 예루살렘에 머물 것을 명령하셨습니다.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14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성경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1645920" cy="493776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난이도: 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99971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293B"/>
                </a:solidFill>
                <a:latin typeface="Malgun Gothic"/>
              </a:defRPr>
            </a:pPr>
            <a:r>
              <a:t>예수님의 12제자 중 배신한 사람은 가룟 유다이다.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4937760"/>
            <a:ext cx="3657600" cy="13716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2415" y="4937760"/>
            <a:ext cx="3657600" cy="13716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14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성경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2011680" cy="4937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정답 및 해설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1072865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64748B"/>
                </a:solidFill>
                <a:latin typeface="Malgun Gothic"/>
              </a:defRPr>
            </a:pPr>
            <a:r>
              <a:t>Q. 예수님의 12제자 중 배신한 사람은 가룟 유다이다.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74720" cy="41148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정 답</a:t>
            </a:r>
          </a:p>
          <a:p>
            <a:pPr algn="ctr">
              <a:defRPr sz="120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286000"/>
            <a:ext cx="697961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643097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1B365D"/>
                </a:solidFill>
                <a:latin typeface="Malgun Gothic"/>
              </a:defRPr>
            </a:pPr>
            <a:r>
              <a:t>💡 해설 및 참고</a:t>
            </a:r>
          </a:p>
          <a:p>
            <a:pPr>
              <a:defRPr sz="3000" b="1">
                <a:solidFill>
                  <a:srgbClr val="1E293B"/>
                </a:solidFill>
                <a:latin typeface="Malgun Gothic"/>
              </a:defRPr>
            </a:pPr>
            <a:r>
              <a:t>은 30에 예수님을 팔았습니다.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15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연예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1645920" cy="493776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난이도: 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#63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99971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293B"/>
                </a:solidFill>
                <a:latin typeface="Malgun Gothic"/>
              </a:defRPr>
            </a:pPr>
            <a:r>
              <a:t>투모로우바이투게더(TXT)는 방탄소년단(BTS)과 같은 소속사이 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4937760"/>
            <a:ext cx="3657600" cy="13716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2415" y="4937760"/>
            <a:ext cx="3657600" cy="13716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15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연예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2011680" cy="4937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정답 및 해설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#63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1072865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64748B"/>
                </a:solidFill>
                <a:latin typeface="Malgun Gothic"/>
              </a:defRPr>
            </a:pPr>
            <a:r>
              <a:t>Q. 투모로우바이투게더(TXT)는 방탄소년단(BTS)과 같은 소속사이 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74720" cy="41148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정 답</a:t>
            </a:r>
          </a:p>
          <a:p>
            <a:pPr algn="ctr">
              <a:defRPr sz="120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286000"/>
            <a:ext cx="697961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643097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1B365D"/>
                </a:solidFill>
                <a:latin typeface="Malgun Gothic"/>
              </a:defRPr>
            </a:pPr>
            <a:r>
              <a:t>💡 해설 및 참고</a:t>
            </a:r>
          </a:p>
          <a:p>
            <a:pPr>
              <a:defRPr sz="3000" b="1">
                <a:solidFill>
                  <a:srgbClr val="1E293B"/>
                </a:solidFill>
                <a:latin typeface="Malgun Gothic"/>
              </a:defRPr>
            </a:pPr>
            <a:r>
              <a:t>빅히트 뮤직 소속입니다.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16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성경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1645920" cy="493776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난이도: 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99971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293B"/>
                </a:solidFill>
                <a:latin typeface="Malgun Gothic"/>
              </a:defRPr>
            </a:pPr>
            <a:r>
              <a:t>바울과 바나바는 1차 전도 여행을 함께 떠났다.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4937760"/>
            <a:ext cx="3657600" cy="13716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2415" y="4937760"/>
            <a:ext cx="3657600" cy="13716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16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성경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2011680" cy="4937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정답 및 해설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1072865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64748B"/>
                </a:solidFill>
                <a:latin typeface="Malgun Gothic"/>
              </a:defRPr>
            </a:pPr>
            <a:r>
              <a:t>Q. 바울과 바나바는 1차 전도 여행을 함께 떠났다.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74720" cy="41148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정 답</a:t>
            </a:r>
          </a:p>
          <a:p>
            <a:pPr algn="ctr">
              <a:defRPr sz="120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286000"/>
            <a:ext cx="697961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643097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1B365D"/>
                </a:solidFill>
                <a:latin typeface="Malgun Gothic"/>
              </a:defRPr>
            </a:pPr>
            <a:r>
              <a:t>💡 해설 및 참고</a:t>
            </a:r>
          </a:p>
          <a:p>
            <a:pPr>
              <a:defRPr sz="3000" b="1">
                <a:solidFill>
                  <a:srgbClr val="1E293B"/>
                </a:solidFill>
                <a:latin typeface="Malgun Gothic"/>
              </a:defRPr>
            </a:pPr>
            <a:r>
              <a:t>안디옥 교회에서 파송받아 함께 전도 여 행을 떠났습니다.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17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스포츠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1645920" cy="493776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난이도: 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99971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293B"/>
                </a:solidFill>
                <a:latin typeface="Malgun Gothic"/>
              </a:defRPr>
            </a:pPr>
            <a:r>
              <a:t>농구에서 3점 슛 라인 안에서 넣은 골은 1점이다.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4937760"/>
            <a:ext cx="3657600" cy="13716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2415" y="4937760"/>
            <a:ext cx="3657600" cy="13716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17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스포츠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2011680" cy="4937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정답 및 해설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1072865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64748B"/>
                </a:solidFill>
                <a:latin typeface="Malgun Gothic"/>
              </a:defRPr>
            </a:pPr>
            <a:r>
              <a:t>Q. 농구에서 3점 슛 라인 안에서 넣은 골은 1점이다.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74720" cy="41148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정 답</a:t>
            </a:r>
          </a:p>
          <a:p>
            <a:pPr algn="ctr">
              <a:defRPr sz="120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286000"/>
            <a:ext cx="697961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643097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1B365D"/>
                </a:solidFill>
                <a:latin typeface="Malgun Gothic"/>
              </a:defRPr>
            </a:pPr>
            <a:r>
              <a:t>💡 해설 및 참고</a:t>
            </a:r>
          </a:p>
          <a:p>
            <a:pPr>
              <a:defRPr sz="3000" b="1">
                <a:solidFill>
                  <a:srgbClr val="1E293B"/>
                </a:solidFill>
                <a:latin typeface="Malgun Gothic"/>
              </a:defRPr>
            </a:pPr>
            <a:r>
              <a:t>자유투가 1점이며, 라인 안에서 넣은 필 드골은 2점입니다.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18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연예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1645920" cy="493776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난이도: 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#65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99971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293B"/>
                </a:solidFill>
                <a:latin typeface="Malgun Gothic"/>
              </a:defRPr>
            </a:pPr>
            <a:r>
              <a:t>라이즈(RIIZE)의 데뷔곡은 'Get A Guitar'이다.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4937760"/>
            <a:ext cx="3657600" cy="13716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2415" y="4937760"/>
            <a:ext cx="3657600" cy="13716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18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연예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2011680" cy="4937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정답 및 해설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#65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1072865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64748B"/>
                </a:solidFill>
                <a:latin typeface="Malgun Gothic"/>
              </a:defRPr>
            </a:pPr>
            <a:r>
              <a:t>Q. 라이즈(RIIZE)의 데뷔곡은 'Get A Guitar'이다.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74720" cy="41148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정 답</a:t>
            </a:r>
          </a:p>
          <a:p>
            <a:pPr algn="ctr">
              <a:defRPr sz="120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286000"/>
            <a:ext cx="697961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643097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1B365D"/>
                </a:solidFill>
                <a:latin typeface="Malgun Gothic"/>
              </a:defRPr>
            </a:pPr>
            <a:r>
              <a:t>💡 해설 및 참고</a:t>
            </a:r>
          </a:p>
          <a:p>
            <a:pPr>
              <a:defRPr sz="3000" b="1">
                <a:solidFill>
                  <a:srgbClr val="1E293B"/>
                </a:solidFill>
                <a:latin typeface="Malgun Gothic"/>
              </a:defRPr>
            </a:pPr>
            <a:r>
              <a:t>2023년 9월에 발매된 데뷔곡입니다.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19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성경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1645920" cy="493776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난이도: 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#49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99971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293B"/>
                </a:solidFill>
                <a:latin typeface="Malgun Gothic"/>
              </a:defRPr>
            </a:pPr>
            <a:r>
              <a:t>베드로가 옥에 갇혔을 때 천사가 나타나 그를 구출해주었다.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4937760"/>
            <a:ext cx="3657600" cy="13716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2415" y="4937760"/>
            <a:ext cx="3657600" cy="13716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19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성경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2011680" cy="4937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정답 및 해설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#49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1072865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64748B"/>
                </a:solidFill>
                <a:latin typeface="Malgun Gothic"/>
              </a:defRPr>
            </a:pPr>
            <a:r>
              <a:t>Q. 베드로가 옥에 갇혔을 때 천사가 나타나 그를 구출해주었다.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74720" cy="41148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정 답</a:t>
            </a:r>
          </a:p>
          <a:p>
            <a:pPr algn="ctr">
              <a:defRPr sz="120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286000"/>
            <a:ext cx="697961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643097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1B365D"/>
                </a:solidFill>
                <a:latin typeface="Malgun Gothic"/>
              </a:defRPr>
            </a:pPr>
            <a:r>
              <a:t>💡 해설 및 참고</a:t>
            </a:r>
          </a:p>
          <a:p>
            <a:pPr>
              <a:defRPr sz="3000" b="1">
                <a:solidFill>
                  <a:srgbClr val="1E293B"/>
                </a:solidFill>
                <a:latin typeface="Malgun Gothic"/>
              </a:defRPr>
            </a:pPr>
            <a:r>
              <a:t>헤롯 왕에게 잡혔으나 천사의 도움으로 옥문이 열리고 풀려났습니다.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20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역사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1645920" cy="493776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난이도: 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#61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99971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293B"/>
                </a:solidFill>
                <a:latin typeface="Malgun Gothic"/>
              </a:defRPr>
            </a:pPr>
            <a:r>
              <a:t>조선 시대의 통치 규범이 수록된 성문 법전은 경국대전이다.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4937760"/>
            <a:ext cx="3657600" cy="13716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2415" y="4937760"/>
            <a:ext cx="3657600" cy="13716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20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역사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2011680" cy="4937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정답 및 해설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#61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1072865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64748B"/>
                </a:solidFill>
                <a:latin typeface="Malgun Gothic"/>
              </a:defRPr>
            </a:pPr>
            <a:r>
              <a:t>Q. 조선 시대의 통치 규범이 수록된 성문 법전은 경국대전이다.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74720" cy="41148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정 답</a:t>
            </a:r>
          </a:p>
          <a:p>
            <a:pPr algn="ctr">
              <a:defRPr sz="120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286000"/>
            <a:ext cx="697961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643097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1B365D"/>
                </a:solidFill>
                <a:latin typeface="Malgun Gothic"/>
              </a:defRPr>
            </a:pPr>
            <a:r>
              <a:t>💡 해설 및 참고</a:t>
            </a:r>
          </a:p>
          <a:p>
            <a:pPr>
              <a:defRPr sz="3000" b="1">
                <a:solidFill>
                  <a:srgbClr val="1E293B"/>
                </a:solidFill>
                <a:latin typeface="Malgun Gothic"/>
              </a:defRPr>
            </a:pPr>
            <a:r>
              <a:t>세조 때 편찬을 시작하여 성종 때 완결 및 반포되었습니다.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21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성경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1645920" cy="493776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난이도: 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#51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99971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293B"/>
                </a:solidFill>
                <a:latin typeface="Malgun Gothic"/>
              </a:defRPr>
            </a:pPr>
            <a:r>
              <a:t>바울은 다메섹으로 가는 길에 부활하신 예수님을 만났다.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4937760"/>
            <a:ext cx="3657600" cy="13716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2415" y="4937760"/>
            <a:ext cx="3657600" cy="13716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21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성경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2011680" cy="4937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정답 및 해설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#51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1072865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64748B"/>
                </a:solidFill>
                <a:latin typeface="Malgun Gothic"/>
              </a:defRPr>
            </a:pPr>
            <a:r>
              <a:t>Q. 바울은 다메섹으로 가는 길에 부활하신 예수님을 만났다.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74720" cy="41148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정 답</a:t>
            </a:r>
          </a:p>
          <a:p>
            <a:pPr algn="ctr">
              <a:defRPr sz="120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286000"/>
            <a:ext cx="697961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643097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1B365D"/>
                </a:solidFill>
                <a:latin typeface="Malgun Gothic"/>
              </a:defRPr>
            </a:pPr>
            <a:r>
              <a:t>💡 해설 및 참고</a:t>
            </a:r>
          </a:p>
          <a:p>
            <a:pPr>
              <a:defRPr sz="3000" b="1">
                <a:solidFill>
                  <a:srgbClr val="1E293B"/>
                </a:solidFill>
                <a:latin typeface="Malgun Gothic"/>
              </a:defRPr>
            </a:pPr>
            <a:r>
              <a:t>이 사건을 계기로 예수님을 핍박하던 자 에서 전하는 자로 변화되었습니다.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22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지구촌교회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1645920" cy="493776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난이도: 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#67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99971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293B"/>
                </a:solidFill>
                <a:latin typeface="Malgun Gothic"/>
              </a:defRPr>
            </a:pPr>
            <a:r>
              <a:t>지구촌교회의 핵심 3N 비전 중 하나인 'Next Generation'은 다음 세대를 신앙의 주체로 세우는 사역을 의미한다.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4937760"/>
            <a:ext cx="3657600" cy="13716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2415" y="4937760"/>
            <a:ext cx="3657600" cy="13716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22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지구촌교회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2011680" cy="4937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정답 및 해설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#67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1072865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64748B"/>
                </a:solidFill>
                <a:latin typeface="Malgun Gothic"/>
              </a:defRPr>
            </a:pPr>
            <a:r>
              <a:t>Q. 지구촌교회의 핵심 3N 비전 중 하나인 'Next Generation'은 다음 세대를 신앙의 주체로 세우는 사역을 의미한다.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74720" cy="41148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정 답</a:t>
            </a:r>
          </a:p>
          <a:p>
            <a:pPr algn="ctr">
              <a:defRPr sz="120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286000"/>
            <a:ext cx="697961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643097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1B365D"/>
                </a:solidFill>
                <a:latin typeface="Malgun Gothic"/>
              </a:defRPr>
            </a:pPr>
            <a:r>
              <a:t>💡 해설 및 참고</a:t>
            </a:r>
          </a:p>
          <a:p>
            <a:pPr>
              <a:defRPr sz="2600" b="1">
                <a:solidFill>
                  <a:srgbClr val="1E293B"/>
                </a:solidFill>
                <a:latin typeface="Malgun Gothic"/>
              </a:defRPr>
            </a:pPr>
            <a:r>
              <a:t>3N3G 비전 중 Next Generation은 우 리 중등부를 포함한 다음세대를 하나님 나라의 주역으로 세우는 비전입니다.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23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스포츠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1645920" cy="493776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난이도: 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#58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99971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293B"/>
                </a:solidFill>
                <a:latin typeface="Malgun Gothic"/>
              </a:defRPr>
            </a:pPr>
            <a:r>
              <a:t>올림픽의 상징인 오륜기의 색깔에는 보라색이 포함된다.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4937760"/>
            <a:ext cx="3657600" cy="13716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2415" y="4937760"/>
            <a:ext cx="3657600" cy="13716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23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스포츠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2011680" cy="4937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정답 및 해설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#58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1072865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64748B"/>
                </a:solidFill>
                <a:latin typeface="Malgun Gothic"/>
              </a:defRPr>
            </a:pPr>
            <a:r>
              <a:t>Q. 올림픽의 상징인 오륜기의 색깔에는 보라색이 포함된다.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74720" cy="41148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정 답</a:t>
            </a:r>
          </a:p>
          <a:p>
            <a:pPr algn="ctr">
              <a:defRPr sz="120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286000"/>
            <a:ext cx="697961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643097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1B365D"/>
                </a:solidFill>
                <a:latin typeface="Malgun Gothic"/>
              </a:defRPr>
            </a:pPr>
            <a:r>
              <a:t>💡 해설 및 참고</a:t>
            </a:r>
          </a:p>
          <a:p>
            <a:pPr>
              <a:defRPr sz="3000" b="1">
                <a:solidFill>
                  <a:srgbClr val="1E293B"/>
                </a:solidFill>
                <a:latin typeface="Malgun Gothic"/>
              </a:defRPr>
            </a:pPr>
            <a:r>
              <a:t>오륜기의 색깔은 파랑, 노랑, 검정, 초록, 빨강입니다.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24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과학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1645920" cy="493776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난이도: 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#71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99971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293B"/>
                </a:solidFill>
                <a:latin typeface="Malgun Gothic"/>
              </a:defRPr>
            </a:pPr>
            <a:r>
              <a:t>태양계에서 행성 주위를 도는 천체를 위성이라고 하며, 달은 지구 의 위성이다.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4937760"/>
            <a:ext cx="3657600" cy="13716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2415" y="4937760"/>
            <a:ext cx="3657600" cy="13716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24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과학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2011680" cy="4937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정답 및 해설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#71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1072865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64748B"/>
                </a:solidFill>
                <a:latin typeface="Malgun Gothic"/>
              </a:defRPr>
            </a:pPr>
            <a:r>
              <a:t>Q. 태양계에서 행성 주위를 도는 천체를 위성이라고 하며, 달은 지구 의 위성이다.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74720" cy="41148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정 답</a:t>
            </a:r>
          </a:p>
          <a:p>
            <a:pPr algn="ctr">
              <a:defRPr sz="120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286000"/>
            <a:ext cx="697961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643097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1B365D"/>
                </a:solidFill>
                <a:latin typeface="Malgun Gothic"/>
              </a:defRPr>
            </a:pPr>
            <a:r>
              <a:t>💡 해설 및 참고</a:t>
            </a:r>
          </a:p>
          <a:p>
            <a:pPr>
              <a:defRPr sz="3000" b="1">
                <a:solidFill>
                  <a:srgbClr val="1E293B"/>
                </a:solidFill>
                <a:latin typeface="Malgun Gothic"/>
              </a:defRPr>
            </a:pPr>
            <a:r>
              <a:t>행성의 인력으로 그 주위를 도는 천체를 위성이라고 합니다.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25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지구촌교회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1645920" cy="493776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난이도: 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#68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99971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293B"/>
                </a:solidFill>
                <a:latin typeface="Malgun Gothic"/>
              </a:defRPr>
            </a:pPr>
            <a:r>
              <a:t>지구촌교회가 속해 있는 개신교 교단은 대한예수교장로회(통합) 이다.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4937760"/>
            <a:ext cx="3657600" cy="13716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2415" y="4937760"/>
            <a:ext cx="3657600" cy="13716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25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지구촌교회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2011680" cy="4937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정답 및 해설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#68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1072865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64748B"/>
                </a:solidFill>
                <a:latin typeface="Malgun Gothic"/>
              </a:defRPr>
            </a:pPr>
            <a:r>
              <a:t>Q. 지구촌교회가 속해 있는 개신교 교단은 대한예수교장로회(통합) 이다.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74720" cy="41148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정 답</a:t>
            </a:r>
          </a:p>
          <a:p>
            <a:pPr algn="ctr">
              <a:defRPr sz="120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286000"/>
            <a:ext cx="697961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643097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1B365D"/>
                </a:solidFill>
                <a:latin typeface="Malgun Gothic"/>
              </a:defRPr>
            </a:pPr>
            <a:r>
              <a:t>💡 해설 및 참고</a:t>
            </a:r>
          </a:p>
          <a:p>
            <a:pPr>
              <a:defRPr sz="3000" b="1">
                <a:solidFill>
                  <a:srgbClr val="1E293B"/>
                </a:solidFill>
                <a:latin typeface="Malgun Gothic"/>
              </a:defRPr>
            </a:pPr>
            <a:r>
              <a:t>지구촌교회가 속해 있는 교단은 기독교 한국침례회(침례교)입니다.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26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성경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1645920" cy="493776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난이도: 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#74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99971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293B"/>
                </a:solidFill>
                <a:latin typeface="Malgun Gothic"/>
              </a:defRPr>
            </a:pPr>
            <a:r>
              <a:t>요나를 삼킨 큰 물고기는 성경에 '고래'라고 명확히 적혀 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4937760"/>
            <a:ext cx="3657600" cy="13716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2415" y="4937760"/>
            <a:ext cx="3657600" cy="13716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26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성경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2011680" cy="4937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정답 및 해설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#74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1072865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64748B"/>
                </a:solidFill>
                <a:latin typeface="Malgun Gothic"/>
              </a:defRPr>
            </a:pPr>
            <a:r>
              <a:t>Q. 요나를 삼킨 큰 물고기는 성경에 '고래'라고 명확히 적혀 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74720" cy="41148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정 답</a:t>
            </a:r>
          </a:p>
          <a:p>
            <a:pPr algn="ctr">
              <a:defRPr sz="120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286000"/>
            <a:ext cx="697961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643097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1B365D"/>
                </a:solidFill>
                <a:latin typeface="Malgun Gothic"/>
              </a:defRPr>
            </a:pPr>
            <a:r>
              <a:t>💡 해설 및 참고</a:t>
            </a:r>
          </a:p>
          <a:p>
            <a:pPr>
              <a:defRPr sz="3000" b="1">
                <a:solidFill>
                  <a:srgbClr val="1E293B"/>
                </a:solidFill>
                <a:latin typeface="Malgun Gothic"/>
              </a:defRPr>
            </a:pPr>
            <a:r>
              <a:t>성경 원어에는 그저 '큰 물고기'라고만 기록되어 있습니다.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27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스포츠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1645920" cy="493776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난이도: 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#84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99971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293B"/>
                </a:solidFill>
                <a:latin typeface="Malgun Gothic"/>
              </a:defRPr>
            </a:pPr>
            <a:r>
              <a:t>마라톤의 정규 코스 길이는 정확히 50km이다.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4937760"/>
            <a:ext cx="3657600" cy="13716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2415" y="4937760"/>
            <a:ext cx="3657600" cy="13716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27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스포츠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2011680" cy="4937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정답 및 해설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#84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1072865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64748B"/>
                </a:solidFill>
                <a:latin typeface="Malgun Gothic"/>
              </a:defRPr>
            </a:pPr>
            <a:r>
              <a:t>Q. 마라톤의 정규 코스 길이는 정확히 50km이다.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74720" cy="41148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정 답</a:t>
            </a:r>
          </a:p>
          <a:p>
            <a:pPr algn="ctr">
              <a:defRPr sz="120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286000"/>
            <a:ext cx="697961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643097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1B365D"/>
                </a:solidFill>
                <a:latin typeface="Malgun Gothic"/>
              </a:defRPr>
            </a:pPr>
            <a:r>
              <a:t>💡 해설 및 참고</a:t>
            </a:r>
          </a:p>
          <a:p>
            <a:pPr>
              <a:defRPr sz="3000" b="1">
                <a:solidFill>
                  <a:srgbClr val="1E293B"/>
                </a:solidFill>
                <a:latin typeface="Malgun Gothic"/>
              </a:defRPr>
            </a:pPr>
            <a:r>
              <a:t>마라톤 정규 코스 길이는 42.195km입 니다.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28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성경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1645920" cy="493776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난이도: 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#77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99971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293B"/>
                </a:solidFill>
                <a:latin typeface="Malgun Gothic"/>
              </a:defRPr>
            </a:pPr>
            <a:r>
              <a:t>바울의 원래 이름은 사울이었다.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4937760"/>
            <a:ext cx="3657600" cy="13716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2415" y="4937760"/>
            <a:ext cx="3657600" cy="13716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28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성경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2011680" cy="4937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정답 및 해설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#77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1072865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64748B"/>
                </a:solidFill>
                <a:latin typeface="Malgun Gothic"/>
              </a:defRPr>
            </a:pPr>
            <a:r>
              <a:t>Q. 바울의 원래 이름은 사울이었다.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74720" cy="41148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정 답</a:t>
            </a:r>
          </a:p>
          <a:p>
            <a:pPr algn="ctr">
              <a:defRPr sz="120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286000"/>
            <a:ext cx="697961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643097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1B365D"/>
                </a:solidFill>
                <a:latin typeface="Malgun Gothic"/>
              </a:defRPr>
            </a:pPr>
            <a:r>
              <a:t>💡 해설 및 참고</a:t>
            </a:r>
          </a:p>
          <a:p>
            <a:pPr>
              <a:defRPr sz="3000" b="1">
                <a:solidFill>
                  <a:srgbClr val="1E293B"/>
                </a:solidFill>
                <a:latin typeface="Malgun Gothic"/>
              </a:defRPr>
            </a:pPr>
            <a:r>
              <a:t>다메섹 도상에서 예수님을 만난 후 바울 로 불리게 되었습니다.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29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스포츠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1645920" cy="493776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난이도: 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#86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99971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293B"/>
                </a:solidFill>
                <a:latin typeface="Malgun Gothic"/>
              </a:defRPr>
            </a:pPr>
            <a:r>
              <a:t>피겨 스케이팅에서 김연아 선수가 2014년 소치 올림픽에서 금메 달을 땄다.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4937760"/>
            <a:ext cx="3657600" cy="13716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2415" y="4937760"/>
            <a:ext cx="3657600" cy="13716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29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스포츠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2011680" cy="4937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정답 및 해설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#86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1072865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64748B"/>
                </a:solidFill>
                <a:latin typeface="Malgun Gothic"/>
              </a:defRPr>
            </a:pPr>
            <a:r>
              <a:t>Q. 피겨 스케이팅에서 김연아 선수가 2014년 소치 올림픽에서 금메 달을 땄다.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74720" cy="41148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정 답</a:t>
            </a:r>
          </a:p>
          <a:p>
            <a:pPr algn="ctr">
              <a:defRPr sz="120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286000"/>
            <a:ext cx="697961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643097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1B365D"/>
                </a:solidFill>
                <a:latin typeface="Malgun Gothic"/>
              </a:defRPr>
            </a:pPr>
            <a:r>
              <a:t>💡 해설 및 참고</a:t>
            </a:r>
          </a:p>
          <a:p>
            <a:pPr>
              <a:defRPr sz="2600" b="1">
                <a:solidFill>
                  <a:srgbClr val="1E293B"/>
                </a:solidFill>
                <a:latin typeface="Malgun Gothic"/>
              </a:defRPr>
            </a:pPr>
            <a:r>
              <a:t>2010년 밴쿠버 올림픽에서 금메달, 2014년 소치 올림픽에서는 은메달을 획 득했습니다.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30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성경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1645920" cy="493776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난이도: 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#79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99971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293B"/>
                </a:solidFill>
                <a:latin typeface="Malgun Gothic"/>
              </a:defRPr>
            </a:pPr>
            <a:r>
              <a:t>성경에서 가장 긴 장은 시편 119편이다.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4937760"/>
            <a:ext cx="3657600" cy="13716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2415" y="4937760"/>
            <a:ext cx="3657600" cy="13716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30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성경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2011680" cy="4937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정답 및 해설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#79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1072865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64748B"/>
                </a:solidFill>
                <a:latin typeface="Malgun Gothic"/>
              </a:defRPr>
            </a:pPr>
            <a:r>
              <a:t>Q. 성경에서 가장 긴 장은 시편 119편이다.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74720" cy="41148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정 답</a:t>
            </a:r>
          </a:p>
          <a:p>
            <a:pPr algn="ctr">
              <a:defRPr sz="120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286000"/>
            <a:ext cx="697961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643097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1B365D"/>
                </a:solidFill>
                <a:latin typeface="Malgun Gothic"/>
              </a:defRPr>
            </a:pPr>
            <a:r>
              <a:t>💡 해설 및 참고</a:t>
            </a:r>
          </a:p>
          <a:p>
            <a:pPr>
              <a:defRPr sz="3000" b="1">
                <a:solidFill>
                  <a:srgbClr val="1E293B"/>
                </a:solidFill>
                <a:latin typeface="Malgun Gothic"/>
              </a:defRPr>
            </a:pPr>
            <a:r>
              <a:t>총 176절로 이루어져 있습니다.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31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역사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1645920" cy="493776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난이도: 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#93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99971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293B"/>
                </a:solidFill>
                <a:latin typeface="Malgun Gothic"/>
              </a:defRPr>
            </a:pPr>
            <a:r>
              <a:t>고려 서희 장군은 거란과의 외교 교섭을 통해 강동 6주를 확보했 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4937760"/>
            <a:ext cx="3657600" cy="13716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2415" y="4937760"/>
            <a:ext cx="3657600" cy="13716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31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역사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2011680" cy="4937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정답 및 해설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#93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1072865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64748B"/>
                </a:solidFill>
                <a:latin typeface="Malgun Gothic"/>
              </a:defRPr>
            </a:pPr>
            <a:r>
              <a:t>Q. 고려 서희 장군은 거란과의 외교 교섭을 통해 강동 6주를 확보했 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74720" cy="41148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정 답</a:t>
            </a:r>
          </a:p>
          <a:p>
            <a:pPr algn="ctr">
              <a:defRPr sz="120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286000"/>
            <a:ext cx="697961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643097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1B365D"/>
                </a:solidFill>
                <a:latin typeface="Malgun Gothic"/>
              </a:defRPr>
            </a:pPr>
            <a:r>
              <a:t>💡 해설 및 참고</a:t>
            </a:r>
          </a:p>
          <a:p>
            <a:pPr>
              <a:defRPr sz="3000" b="1">
                <a:solidFill>
                  <a:srgbClr val="1E293B"/>
                </a:solidFill>
                <a:latin typeface="Malgun Gothic"/>
              </a:defRPr>
            </a:pPr>
            <a:r>
              <a:t>서희는 거란 소손녕과의 외교 담판으로 강동 6주를 되찾았습니다.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32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성경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1645920" cy="493776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난이도: 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#89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99971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293B"/>
                </a:solidFill>
                <a:latin typeface="Malgun Gothic"/>
              </a:defRPr>
            </a:pPr>
            <a:r>
              <a:t>에베소에서 바울의 사역으로 인해 은장색 데메드리오는 큰 소동을 일으켰다.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4937760"/>
            <a:ext cx="3657600" cy="13716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2415" y="4937760"/>
            <a:ext cx="3657600" cy="13716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32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성경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2011680" cy="4937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정답 및 해설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#89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1072865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64748B"/>
                </a:solidFill>
                <a:latin typeface="Malgun Gothic"/>
              </a:defRPr>
            </a:pPr>
            <a:r>
              <a:t>Q. 에베소에서 바울의 사역으로 인해 은장색 데메드리오는 큰 소동을 일으켰다.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74720" cy="41148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정 답</a:t>
            </a:r>
          </a:p>
          <a:p>
            <a:pPr algn="ctr">
              <a:defRPr sz="120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286000"/>
            <a:ext cx="697961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643097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1B365D"/>
                </a:solidFill>
                <a:latin typeface="Malgun Gothic"/>
              </a:defRPr>
            </a:pPr>
            <a:r>
              <a:t>💡 해설 및 참고</a:t>
            </a:r>
          </a:p>
          <a:p>
            <a:pPr>
              <a:defRPr sz="2600" b="1">
                <a:solidFill>
                  <a:srgbClr val="1E293B"/>
                </a:solidFill>
                <a:latin typeface="Malgun Gothic"/>
              </a:defRPr>
            </a:pPr>
            <a:r>
              <a:t>아데미 여신의 신상 모형을 만드는 은장 색들이 수입이 줄어들자 소동을 일으켰 습니다.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33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연예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1645920" cy="493776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난이도: 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#94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99971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293B"/>
                </a:solidFill>
                <a:latin typeface="Malgun Gothic"/>
              </a:defRPr>
            </a:pPr>
            <a:r>
              <a:t>제로베이스원(ZEROBASEONE)은 오디션 프로그램 '보이즈 플래 닛'을 통해 결성되었다.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4937760"/>
            <a:ext cx="3657600" cy="13716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2415" y="4937760"/>
            <a:ext cx="3657600" cy="13716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33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연예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2011680" cy="4937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정답 및 해설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#94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1072865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64748B"/>
                </a:solidFill>
                <a:latin typeface="Malgun Gothic"/>
              </a:defRPr>
            </a:pPr>
            <a:r>
              <a:t>Q. 제로베이스원(ZEROBASEONE)은 오디션 프로그램 '보이즈 플래 닛'을 통해 결성되었다.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74720" cy="41148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정 답</a:t>
            </a:r>
          </a:p>
          <a:p>
            <a:pPr algn="ctr">
              <a:defRPr sz="120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286000"/>
            <a:ext cx="697961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643097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1B365D"/>
                </a:solidFill>
                <a:latin typeface="Malgun Gothic"/>
              </a:defRPr>
            </a:pPr>
            <a:r>
              <a:t>💡 해설 및 참고</a:t>
            </a:r>
          </a:p>
          <a:p>
            <a:pPr>
              <a:defRPr sz="3000" b="1">
                <a:solidFill>
                  <a:srgbClr val="1E293B"/>
                </a:solidFill>
                <a:latin typeface="Malgun Gothic"/>
              </a:defRPr>
            </a:pPr>
            <a:r>
              <a:t>엠넷 오디션 프로그램 보이즈 플래닛을 통해 결성된 프로젝트 그룹입니다.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34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성경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1645920" cy="493776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난이도: 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#91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99971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293B"/>
                </a:solidFill>
                <a:latin typeface="Malgun Gothic"/>
              </a:defRPr>
            </a:pPr>
            <a:r>
              <a:t>사도행전의 마지막 장인 28장에서 바울은 로마에 도착하여 2년 동안 셋집에 머물며 복음을 전했다.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4937760"/>
            <a:ext cx="3657600" cy="13716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2415" y="4937760"/>
            <a:ext cx="3657600" cy="13716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34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성경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2011680" cy="4937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정답 및 해설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#91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1072865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64748B"/>
                </a:solidFill>
                <a:latin typeface="Malgun Gothic"/>
              </a:defRPr>
            </a:pPr>
            <a:r>
              <a:t>Q. 사도행전의 마지막 장인 28장에서 바울은 로마에 도착하여 2년 동안 셋집에 머물며 복음을 전했다.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74720" cy="41148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정 답</a:t>
            </a:r>
          </a:p>
          <a:p>
            <a:pPr algn="ctr">
              <a:defRPr sz="120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286000"/>
            <a:ext cx="697961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643097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1B365D"/>
                </a:solidFill>
                <a:latin typeface="Malgun Gothic"/>
              </a:defRPr>
            </a:pPr>
            <a:r>
              <a:t>💡 해설 및 참고</a:t>
            </a:r>
          </a:p>
          <a:p>
            <a:pPr>
              <a:defRPr sz="3000" b="1">
                <a:solidFill>
                  <a:srgbClr val="1E293B"/>
                </a:solidFill>
                <a:latin typeface="Malgun Gothic"/>
              </a:defRPr>
            </a:pPr>
            <a:r>
              <a:t>바울은 로마에서 가택 연금 상태로 2년 동안 하나님 나라를 전파했습니다.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35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성경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1645920" cy="493776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난이도: 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#83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99971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293B"/>
                </a:solidFill>
                <a:latin typeface="Malgun Gothic"/>
              </a:defRPr>
            </a:pPr>
            <a:r>
              <a:t>사도행전의 수신자인 '데오빌로'는 '하나님을 사랑하는 자'라는 뜻 을 가지고 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4937760"/>
            <a:ext cx="3657600" cy="13716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2415" y="4937760"/>
            <a:ext cx="3657600" cy="13716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Q 35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성경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2011680" cy="4937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정답 및 해설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#83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1072865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64748B"/>
                </a:solidFill>
                <a:latin typeface="Malgun Gothic"/>
              </a:defRPr>
            </a:pPr>
            <a:r>
              <a:t>Q. 사도행전의 수신자인 '데오빌로'는 '하나님을 사랑하는 자'라는 뜻 을 가지고 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74720" cy="41148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정 답</a:t>
            </a:r>
          </a:p>
          <a:p>
            <a:pPr algn="ctr">
              <a:defRPr sz="120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286000"/>
            <a:ext cx="697961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643097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1B365D"/>
                </a:solidFill>
                <a:latin typeface="Malgun Gothic"/>
              </a:defRPr>
            </a:pPr>
            <a:r>
              <a:t>💡 해설 및 참고</a:t>
            </a:r>
          </a:p>
          <a:p>
            <a:pPr>
              <a:defRPr sz="3000" b="1">
                <a:solidFill>
                  <a:srgbClr val="1E293B"/>
                </a:solidFill>
                <a:latin typeface="Malgun Gothic"/>
              </a:defRPr>
            </a:pPr>
            <a:r>
              <a:t>헬라어로 '데오스(하나님)'와 '필로스(사 랑하는 자)'의 합성어입니다.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  <a:latin typeface="Malgun Gothic"/>
              </a:defRPr>
            </a:pPr>
            <a:r>
              <a:t>PART 2</a:t>
            </a:r>
          </a:p>
          <a:p>
            <a:pPr algn="ctr">
              <a:spcBef>
                <a:spcPts val="1000"/>
              </a:spcBef>
              <a:defRPr sz="4800" b="1">
                <a:solidFill>
                  <a:srgbClr val="FFFFFF"/>
                </a:solidFill>
                <a:latin typeface="Malgun Gothic"/>
              </a:defRPr>
            </a:pPr>
            <a:r>
              <a:t>여분 문제 (1번 ~ 10번)</a:t>
            </a:r>
          </a:p>
          <a:p>
            <a:pPr algn="ctr">
              <a:spcBef>
                <a:spcPts val="1600"/>
              </a:spcBef>
              <a:defRPr sz="2000">
                <a:solidFill>
                  <a:srgbClr val="CBD5E1"/>
                </a:solidFill>
                <a:latin typeface="Malgun Gothic"/>
              </a:defRPr>
            </a:pPr>
            <a:r>
              <a:t>패자부활전 &amp; 동점자 처리용 예비 퀴즈 10문항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여분 Q 01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성경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1645920" cy="493776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난이도: 눈치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#98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99971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293B"/>
                </a:solidFill>
                <a:latin typeface="Malgun Gothic"/>
              </a:defRPr>
            </a:pPr>
            <a:r>
              <a:t>아브라함의 아내는 사라이다.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4937760"/>
            <a:ext cx="3657600" cy="13716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2415" y="4937760"/>
            <a:ext cx="3657600" cy="13716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여분 Q 01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성경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2011680" cy="4937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정답 및 해설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#98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1072865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64748B"/>
                </a:solidFill>
                <a:latin typeface="Malgun Gothic"/>
              </a:defRPr>
            </a:pPr>
            <a:r>
              <a:t>Q. 아브라함의 아내는 사라이다.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74720" cy="41148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정 답</a:t>
            </a:r>
          </a:p>
          <a:p>
            <a:pPr algn="ctr">
              <a:defRPr sz="120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286000"/>
            <a:ext cx="697961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643097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1B365D"/>
                </a:solidFill>
                <a:latin typeface="Malgun Gothic"/>
              </a:defRPr>
            </a:pPr>
            <a:r>
              <a:t>💡 해설 및 참고</a:t>
            </a:r>
          </a:p>
          <a:p>
            <a:pPr>
              <a:defRPr sz="3000" b="1">
                <a:solidFill>
                  <a:srgbClr val="1E293B"/>
                </a:solidFill>
                <a:latin typeface="Malgun Gothic"/>
              </a:defRPr>
            </a:pPr>
            <a:r>
              <a:t>본래 이름은 사래였습니다.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여분 Q 02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스포츠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1645920" cy="493776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난이도: 눈치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99971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293B"/>
                </a:solidFill>
                <a:latin typeface="Malgun Gothic"/>
              </a:defRPr>
            </a:pPr>
            <a:r>
              <a:t>탁구공의 공식 경기 색깔은 흰색과 주황색 두 가지뿐이다.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4937760"/>
            <a:ext cx="3657600" cy="13716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2415" y="4937760"/>
            <a:ext cx="3657600" cy="13716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여분 Q 02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스포츠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2011680" cy="4937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정답 및 해설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1072865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64748B"/>
                </a:solidFill>
                <a:latin typeface="Malgun Gothic"/>
              </a:defRPr>
            </a:pPr>
            <a:r>
              <a:t>Q. 탁구공의 공식 경기 색깔은 흰색과 주황색 두 가지뿐이다.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74720" cy="41148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정 답</a:t>
            </a:r>
          </a:p>
          <a:p>
            <a:pPr algn="ctr">
              <a:defRPr sz="120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286000"/>
            <a:ext cx="697961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643097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1B365D"/>
                </a:solidFill>
                <a:latin typeface="Malgun Gothic"/>
              </a:defRPr>
            </a:pPr>
            <a:r>
              <a:t>💡 해설 및 참고</a:t>
            </a:r>
          </a:p>
          <a:p>
            <a:pPr>
              <a:defRPr sz="3000" b="1">
                <a:solidFill>
                  <a:srgbClr val="1E293B"/>
                </a:solidFill>
                <a:latin typeface="Malgun Gothic"/>
              </a:defRPr>
            </a:pPr>
            <a:r>
              <a:t>공식 경기에서는 흰색 또는 주황색 무광 택 공을 사용합니다.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여분 Q 03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성경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1645920" cy="493776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난이도: 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#81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99971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293B"/>
                </a:solidFill>
                <a:latin typeface="Malgun Gothic"/>
              </a:defRPr>
            </a:pPr>
            <a:r>
              <a:t>사도행전에서 바울이 1차 전도 여행 중 돌에 맞아 죽은 줄로 여겨 졌던 도시는 루스드라이다.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4937760"/>
            <a:ext cx="3657600" cy="13716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2415" y="4937760"/>
            <a:ext cx="3657600" cy="13716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여분 Q 03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성경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2011680" cy="4937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정답 및 해설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#81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1072865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64748B"/>
                </a:solidFill>
                <a:latin typeface="Malgun Gothic"/>
              </a:defRPr>
            </a:pPr>
            <a:r>
              <a:t>Q. 사도행전에서 바울이 1차 전도 여행 중 돌에 맞아 죽은 줄로 여겨 졌던 도시는 루스드라이다.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74720" cy="41148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정 답</a:t>
            </a:r>
          </a:p>
          <a:p>
            <a:pPr algn="ctr">
              <a:defRPr sz="120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286000"/>
            <a:ext cx="697961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643097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1B365D"/>
                </a:solidFill>
                <a:latin typeface="Malgun Gothic"/>
              </a:defRPr>
            </a:pPr>
            <a:r>
              <a:t>💡 해설 및 참고</a:t>
            </a:r>
          </a:p>
          <a:p>
            <a:pPr>
              <a:defRPr sz="3000" b="1">
                <a:solidFill>
                  <a:srgbClr val="1E293B"/>
                </a:solidFill>
                <a:latin typeface="Malgun Gothic"/>
              </a:defRPr>
            </a:pPr>
            <a:r>
              <a:t>루스드라에서 유대인들의 충동으로 무 리에게 돌로 맞았습니다.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여분 Q 04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성경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1645920" cy="493776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난이도: 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#82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99971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293B"/>
                </a:solidFill>
                <a:latin typeface="Malgun Gothic"/>
              </a:defRPr>
            </a:pPr>
            <a:r>
              <a:t>바울이 3차 전도 여행 중 드로아에서 강론할 때, 졸다가 3층 창에 서 떨어져 죽었다가 살아난 청년의 이름은 디모데이다.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4937760"/>
            <a:ext cx="3657600" cy="13716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2415" y="4937760"/>
            <a:ext cx="3657600" cy="13716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여분 Q 04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성경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2011680" cy="4937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정답 및 해설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#82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1072865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64748B"/>
                </a:solidFill>
                <a:latin typeface="Malgun Gothic"/>
              </a:defRPr>
            </a:pPr>
            <a:r>
              <a:t>Q. 바울이 3차 전도 여행 중 드로아에서 강론할 때, 졸다가 3층 창에 서 떨어져 죽었다가 살아난 청년의 이름은 디모데이다.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74720" cy="41148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정 답</a:t>
            </a:r>
          </a:p>
          <a:p>
            <a:pPr algn="ctr">
              <a:defRPr sz="120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286000"/>
            <a:ext cx="697961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643097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1B365D"/>
                </a:solidFill>
                <a:latin typeface="Malgun Gothic"/>
              </a:defRPr>
            </a:pPr>
            <a:r>
              <a:t>💡 해설 및 참고</a:t>
            </a:r>
          </a:p>
          <a:p>
            <a:pPr>
              <a:defRPr sz="3000" b="1">
                <a:solidFill>
                  <a:srgbClr val="1E293B"/>
                </a:solidFill>
                <a:latin typeface="Malgun Gothic"/>
              </a:defRPr>
            </a:pPr>
            <a:r>
              <a:t>창에서 떨어져 죽었다가 바울이 살려낸 청년의 이름은 유두고입니다.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여분 Q 05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성경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1645920" cy="493776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난이도: 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#85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99971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293B"/>
                </a:solidFill>
                <a:latin typeface="Malgun Gothic"/>
              </a:defRPr>
            </a:pPr>
            <a:r>
              <a:t>바울이 아덴(아테네)에서 설교할 때 언급한 제단의 이름은 '알지 못하는 신에게'이다.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4937760"/>
            <a:ext cx="3657600" cy="13716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2415" y="4937760"/>
            <a:ext cx="3657600" cy="13716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여분 Q 05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성경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2011680" cy="4937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정답 및 해설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#85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1072865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64748B"/>
                </a:solidFill>
                <a:latin typeface="Malgun Gothic"/>
              </a:defRPr>
            </a:pPr>
            <a:r>
              <a:t>Q. 바울이 아덴(아테네)에서 설교할 때 언급한 제단의 이름은 '알지 못하는 신에게'이다.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74720" cy="41148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정 답</a:t>
            </a:r>
          </a:p>
          <a:p>
            <a:pPr algn="ctr">
              <a:defRPr sz="120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286000"/>
            <a:ext cx="697961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643097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1B365D"/>
                </a:solidFill>
                <a:latin typeface="Malgun Gothic"/>
              </a:defRPr>
            </a:pPr>
            <a:r>
              <a:t>💡 해설 및 참고</a:t>
            </a:r>
          </a:p>
          <a:p>
            <a:pPr>
              <a:defRPr sz="3000" b="1">
                <a:solidFill>
                  <a:srgbClr val="1E293B"/>
                </a:solidFill>
                <a:latin typeface="Malgun Gothic"/>
              </a:defRPr>
            </a:pPr>
            <a:r>
              <a:t>바울은 아레오바고에서 이 제단을 언급 하며 참되신 하나님을 전했습니다.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여분 Q 06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성경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1645920" cy="493776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난이도: 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99971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293B"/>
                </a:solidFill>
                <a:latin typeface="Malgun Gothic"/>
              </a:defRPr>
            </a:pPr>
            <a:r>
              <a:t>에덴동산에서 하나님이 아담과 하와에게 먹지 말라고 명하신 열매 는 생명나무의 열매였다.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4937760"/>
            <a:ext cx="3657600" cy="13716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2415" y="4937760"/>
            <a:ext cx="3657600" cy="13716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여분 Q 06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성경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2011680" cy="4937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정답 및 해설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1072865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64748B"/>
                </a:solidFill>
                <a:latin typeface="Malgun Gothic"/>
              </a:defRPr>
            </a:pPr>
            <a:r>
              <a:t>Q. 에덴동산에서 하나님이 아담과 하와에게 먹지 말라고 명하신 열매 는 생명나무의 열매였다.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74720" cy="41148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정 답</a:t>
            </a:r>
          </a:p>
          <a:p>
            <a:pPr algn="ctr">
              <a:defRPr sz="120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286000"/>
            <a:ext cx="697961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643097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1B365D"/>
                </a:solidFill>
                <a:latin typeface="Malgun Gothic"/>
              </a:defRPr>
            </a:pPr>
            <a:r>
              <a:t>💡 해설 및 참고</a:t>
            </a:r>
          </a:p>
          <a:p>
            <a:pPr>
              <a:defRPr sz="3000" b="1">
                <a:solidFill>
                  <a:srgbClr val="1E293B"/>
                </a:solidFill>
                <a:latin typeface="Malgun Gothic"/>
              </a:defRPr>
            </a:pPr>
            <a:r>
              <a:t>먹지 말라고 명하신 것은 선악을 알게 하는 나무의 열매(선악과)입니다.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여분 Q 07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성경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1645920" cy="493776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난이도: 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99971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293B"/>
                </a:solidFill>
                <a:latin typeface="Malgun Gothic"/>
              </a:defRPr>
            </a:pPr>
            <a:r>
              <a:t>사도행전은 신약 성경의 첫 번째 책이다.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4937760"/>
            <a:ext cx="3657600" cy="13716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2415" y="4937760"/>
            <a:ext cx="3657600" cy="13716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여분 Q 07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성경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2011680" cy="4937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정답 및 해설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1072865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64748B"/>
                </a:solidFill>
                <a:latin typeface="Malgun Gothic"/>
              </a:defRPr>
            </a:pPr>
            <a:r>
              <a:t>Q. 사도행전은 신약 성경의 첫 번째 책이다.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74720" cy="41148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정 답</a:t>
            </a:r>
          </a:p>
          <a:p>
            <a:pPr algn="ctr">
              <a:defRPr sz="120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286000"/>
            <a:ext cx="697961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643097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1B365D"/>
                </a:solidFill>
                <a:latin typeface="Malgun Gothic"/>
              </a:defRPr>
            </a:pPr>
            <a:r>
              <a:t>💡 해설 및 참고</a:t>
            </a:r>
          </a:p>
          <a:p>
            <a:pPr>
              <a:defRPr sz="3000" b="1">
                <a:solidFill>
                  <a:srgbClr val="1E293B"/>
                </a:solidFill>
                <a:latin typeface="Malgun Gothic"/>
              </a:defRPr>
            </a:pPr>
            <a:r>
              <a:t>신약 성경의 첫 번째 책은 마태복음입니 다. 사도행전은 5번째 책입니다.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여분 Q 08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성경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1645920" cy="493776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난이도: 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99971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293B"/>
                </a:solidFill>
                <a:latin typeface="Malgun Gothic"/>
              </a:defRPr>
            </a:pPr>
            <a:r>
              <a:t>바울의 직업은 세리(세금 징수원)였다.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4937760"/>
            <a:ext cx="3657600" cy="13716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2415" y="4937760"/>
            <a:ext cx="3657600" cy="13716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여분 Q 08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성경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2011680" cy="4937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정답 및 해설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1072865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64748B"/>
                </a:solidFill>
                <a:latin typeface="Malgun Gothic"/>
              </a:defRPr>
            </a:pPr>
            <a:r>
              <a:t>Q. 바울의 직업은 세리(세금 징수원)였다.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74720" cy="41148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정 답</a:t>
            </a:r>
          </a:p>
          <a:p>
            <a:pPr algn="ctr">
              <a:defRPr sz="120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286000"/>
            <a:ext cx="697961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643097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1B365D"/>
                </a:solidFill>
                <a:latin typeface="Malgun Gothic"/>
              </a:defRPr>
            </a:pPr>
            <a:r>
              <a:t>💡 해설 및 참고</a:t>
            </a:r>
          </a:p>
          <a:p>
            <a:pPr>
              <a:defRPr sz="3000" b="1">
                <a:solidFill>
                  <a:srgbClr val="1E293B"/>
                </a:solidFill>
                <a:latin typeface="Malgun Gothic"/>
              </a:defRPr>
            </a:pPr>
            <a:r>
              <a:t>바울의 직업은 천막을 만드는 일(텐트 메이커)이었습니다.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여분 Q 09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성경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1645920" cy="493776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난이도: 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#53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99971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293B"/>
                </a:solidFill>
                <a:latin typeface="Malgun Gothic"/>
              </a:defRPr>
            </a:pPr>
            <a:r>
              <a:t>스데반은 기독교 역사상 첫 번째 순교자이다.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4937760"/>
            <a:ext cx="3657600" cy="13716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2415" y="4937760"/>
            <a:ext cx="3657600" cy="13716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여분 Q 09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성경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2011680" cy="4937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정답 및 해설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#53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1072865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64748B"/>
                </a:solidFill>
                <a:latin typeface="Malgun Gothic"/>
              </a:defRPr>
            </a:pPr>
            <a:r>
              <a:t>Q. 스데반은 기독교 역사상 첫 번째 순교자이다.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74720" cy="41148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정 답</a:t>
            </a:r>
          </a:p>
          <a:p>
            <a:pPr algn="ctr">
              <a:defRPr sz="120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286000"/>
            <a:ext cx="697961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643097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1B365D"/>
                </a:solidFill>
                <a:latin typeface="Malgun Gothic"/>
              </a:defRPr>
            </a:pPr>
            <a:r>
              <a:t>💡 해설 및 참고</a:t>
            </a:r>
          </a:p>
          <a:p>
            <a:pPr>
              <a:defRPr sz="3000" b="1">
                <a:solidFill>
                  <a:srgbClr val="1E293B"/>
                </a:solidFill>
                <a:latin typeface="Malgun Gothic"/>
              </a:defRPr>
            </a:pPr>
            <a:r>
              <a:t>복음을 전하다가 사람들에게 돌에 맞아 순교했습니다.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여분 Q 10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연예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1645920" cy="493776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난이도: 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#95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99971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293B"/>
                </a:solidFill>
                <a:latin typeface="Malgun Gothic"/>
              </a:defRPr>
            </a:pPr>
            <a:r>
              <a:t>스트레이 키즈(Stray Kids)는 JYP 엔터테인먼트 소속이다.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4937760"/>
            <a:ext cx="3657600" cy="13716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2415" y="4937760"/>
            <a:ext cx="3657600" cy="137160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EF4444"/>
                </a:solidFill>
                <a:latin typeface="Malgun Gothic"/>
              </a:defRPr>
            </a:pPr>
            <a:r>
              <a:t>X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011680" cy="4937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 b="1">
                <a:solidFill>
                  <a:srgbClr val="1B365D"/>
                </a:solidFill>
                <a:latin typeface="Malgun Gothic"/>
              </a:defRPr>
            </a:pPr>
            <a:r>
              <a:t>여분 Q 10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56032"/>
            <a:ext cx="1828800" cy="493776"/>
          </a:xfrm>
          <a:prstGeom prst="roundRect">
            <a:avLst/>
          </a:prstGeom>
          <a:solidFill>
            <a:srgbClr val="2B5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[ 연예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6032"/>
            <a:ext cx="2011680" cy="4937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정답 및 해설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828800" cy="49377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2E8F0"/>
                </a:solidFill>
                <a:latin typeface="Malgun Gothic"/>
              </a:defRPr>
            </a:pPr>
            <a:r>
              <a:t>자료집 #95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1072865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64748B"/>
                </a:solidFill>
                <a:latin typeface="Malgun Gothic"/>
              </a:defRPr>
            </a:pPr>
            <a:r>
              <a:t>Q. 스트레이 키즈(Stray Kids)는 JYP 엔터테인먼트 소속이다.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474720" cy="41148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정 답</a:t>
            </a:r>
          </a:p>
          <a:p>
            <a:pPr algn="ctr">
              <a:defRPr sz="120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286000"/>
            <a:ext cx="697961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643097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1B365D"/>
                </a:solidFill>
                <a:latin typeface="Malgun Gothic"/>
              </a:defRPr>
            </a:pPr>
            <a:r>
              <a:t>💡 해설 및 참고</a:t>
            </a:r>
          </a:p>
          <a:p>
            <a:pPr>
              <a:defRPr sz="3000" b="1">
                <a:solidFill>
                  <a:srgbClr val="1E293B"/>
                </a:solidFill>
                <a:latin typeface="Malgun Gothic"/>
              </a:defRPr>
            </a:pPr>
            <a:r>
              <a:t>2018년에 데뷔한 JYP 엔터테인먼트 소 속 보이그룹입니다.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59E0B"/>
                </a:solidFill>
                <a:latin typeface="Malgun Gothic"/>
              </a:defRPr>
            </a:pPr>
            <a:r>
              <a:t>수고하셨습니다!</a:t>
            </a:r>
          </a:p>
          <a:p>
            <a:pPr algn="ctr">
              <a:spcBef>
                <a:spcPts val="2000"/>
              </a:spcBef>
              <a:defRPr sz="2600">
                <a:solidFill>
                  <a:srgbClr val="FFFFFF"/>
                </a:solidFill>
                <a:latin typeface="Malgun Gothic"/>
              </a:defRPr>
            </a:pPr>
            <a:r>
              <a:t>지구촌교회 청소년지구 중등부 O/X 퀴즈 종료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